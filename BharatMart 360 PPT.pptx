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Score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8C-45FB-963D-B09B68CBEF3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B8C-45FB-963D-B09B68CBEF33}"/>
              </c:ext>
            </c:extLst>
          </c:dPt>
          <c:dPt>
            <c:idx val="2"/>
            <c:invertIfNegative val="0"/>
            <c:bubble3D val="0"/>
            <c:spPr>
              <a:solidFill>
                <a:srgbClr val="1A35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8C-45FB-963D-B09B68CBEF33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33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XGBoost
(ours)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0.64119999999999999</c:v>
                </c:pt>
                <c:pt idx="1">
                  <c:v>0.63070000000000004</c:v>
                </c:pt>
                <c:pt idx="2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B8C-45FB-963D-B09B68CBEF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8"/>
          <c:min val="0.6"/>
        </c:scaling>
        <c:delete val="0"/>
        <c:axPos val="l"/>
        <c:majorGridlines>
          <c:spPr>
            <a:ln w="6350" cap="flat">
              <a:solidFill>
                <a:srgbClr val="DD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64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Value</c:v>
                </c:pt>
              </c:strCache>
            </c:strRef>
          </c:tx>
          <c:spPr>
            <a:solidFill>
              <a:srgbClr val="BF202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C68-46F4-8805-7098BDEFAC63}"/>
              </c:ext>
            </c:extLst>
          </c:dPt>
          <c:dPt>
            <c:idx val="1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68-46F4-8805-7098BDEFAC63}"/>
              </c:ext>
            </c:extLst>
          </c:dPt>
          <c:dPt>
            <c:idx val="2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68-46F4-8805-7098BDEFAC63}"/>
              </c:ext>
            </c:extLst>
          </c:dPt>
          <c:dPt>
            <c:idx val="3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C68-46F4-8805-7098BDEFAC63}"/>
              </c:ext>
            </c:extLst>
          </c:dPt>
          <c:dPt>
            <c:idx val="4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C68-46F4-8805-7098BDEFAC63}"/>
              </c:ext>
            </c:extLst>
          </c:dPt>
          <c:dPt>
            <c:idx val="5"/>
            <c:invertIfNegative val="0"/>
            <c:bubble3D val="0"/>
            <c:spPr>
              <a:solidFill>
                <a:srgbClr val="9AA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C68-46F4-8805-7098BDEFAC63}"/>
              </c:ext>
            </c:extLst>
          </c:dPt>
          <c:dPt>
            <c:idx val="6"/>
            <c:invertIfNegative val="0"/>
            <c:bubble3D val="0"/>
            <c:spPr>
              <a:solidFill>
                <a:srgbClr val="1D6A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C68-46F4-8805-7098BDEFAC63}"/>
              </c:ext>
            </c:extLst>
          </c:dPt>
          <c:dPt>
            <c:idx val="7"/>
            <c:invertIfNegative val="0"/>
            <c:bubble3D val="0"/>
            <c:spPr>
              <a:solidFill>
                <a:srgbClr val="1A35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C68-46F4-8805-7098BDEFAC6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33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avg_rating
(weakest)</c:v>
                </c:pt>
                <c:pt idx="1">
                  <c:v>refund_rate</c:v>
                </c:pt>
                <c:pt idx="2">
                  <c:v>payment_idx</c:v>
                </c:pt>
                <c:pt idx="3">
                  <c:v>abandon_rate</c:v>
                </c:pt>
                <c:pt idx="4">
                  <c:v>session_count</c:v>
                </c:pt>
                <c:pt idx="5">
                  <c:v>pages_viewed</c:v>
                </c:pt>
                <c:pt idx="6">
                  <c:v>avg_order_value</c:v>
                </c:pt>
                <c:pt idx="7">
                  <c:v>total_spent
(strongest)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</c:v>
                </c:pt>
                <c:pt idx="1">
                  <c:v>7.0000000000000007E-2</c:v>
                </c:pt>
                <c:pt idx="2">
                  <c:v>0.09</c:v>
                </c:pt>
                <c:pt idx="3">
                  <c:v>0.12</c:v>
                </c:pt>
                <c:pt idx="4">
                  <c:v>0.15</c:v>
                </c:pt>
                <c:pt idx="5">
                  <c:v>0.18</c:v>
                </c:pt>
                <c:pt idx="6">
                  <c:v>0.31</c:v>
                </c:pt>
                <c:pt idx="7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C68-46F4-8805-7098BDEFAC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33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b"/>
        <c:majorGridlines>
          <c:spPr>
            <a:ln w="6350" cap="flat">
              <a:solidFill>
                <a:srgbClr val="DD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64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96475"/>
                </a:solidFill>
                <a:latin typeface="+mn-lt"/>
              </a:defRPr>
            </a:pPr>
            <a:r>
              <a:rPr lang="en-GB" sz="1100" b="0" i="0" u="none" strike="noStrike">
                <a:solidFill>
                  <a:srgbClr val="596475"/>
                </a:solidFill>
                <a:latin typeface="+mn-lt"/>
              </a:rPr>
              <a:t>Silhouette Score by K  (higher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53-4137-A6D0-FD31360D6164}"/>
              </c:ext>
            </c:extLst>
          </c:dPt>
          <c:dPt>
            <c:idx val="1"/>
            <c:invertIfNegative val="0"/>
            <c:bubble3D val="0"/>
            <c:spPr>
              <a:solidFill>
                <a:srgbClr val="1A35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53-4137-A6D0-FD31360D616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853-4137-A6D0-FD31360D616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853-4137-A6D0-FD31360D616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853-4137-A6D0-FD31360D6164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33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K=2</c:v>
                </c:pt>
                <c:pt idx="1">
                  <c:v>K=3
(optimal)</c:v>
                </c:pt>
                <c:pt idx="2">
                  <c:v>K=4</c:v>
                </c:pt>
                <c:pt idx="3">
                  <c:v>K=5</c:v>
                </c:pt>
                <c:pt idx="4">
                  <c:v>K=6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0.33800000000000002</c:v>
                </c:pt>
                <c:pt idx="1">
                  <c:v>0.4108</c:v>
                </c:pt>
                <c:pt idx="2">
                  <c:v>0.34699999999999998</c:v>
                </c:pt>
                <c:pt idx="3">
                  <c:v>0.33500000000000002</c:v>
                </c:pt>
                <c:pt idx="4">
                  <c:v>0.318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853-4137-A6D0-FD31360D61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4"/>
          <c:min val="0.28000000000000003"/>
        </c:scaling>
        <c:delete val="0"/>
        <c:axPos val="l"/>
        <c:majorGridlines>
          <c:spPr>
            <a:ln w="6350" cap="flat">
              <a:solidFill>
                <a:srgbClr val="DD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64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96475"/>
                </a:solidFill>
                <a:latin typeface="+mn-lt"/>
              </a:defRPr>
            </a:pPr>
            <a:r>
              <a:rPr lang="en-IN" sz="1100" b="0" i="0" u="none" strike="noStrike">
                <a:solidFill>
                  <a:srgbClr val="596475"/>
                </a:solidFill>
                <a:latin typeface="+mn-lt"/>
              </a:rPr>
              <a:t>RFMQ Entropy Weights: Paper vs BharatMart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Chen et al. Paper (outdoor sports)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33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 (Recency)</c:v>
                </c:pt>
                <c:pt idx="1">
                  <c:v>F (Frequency)</c:v>
                </c:pt>
                <c:pt idx="2">
                  <c:v>M (Monetary)</c:v>
                </c:pt>
                <c:pt idx="3">
                  <c:v>Q (Quantity)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7.9000000000000001E-2</c:v>
                </c:pt>
                <c:pt idx="1">
                  <c:v>0.39</c:v>
                </c:pt>
                <c:pt idx="2">
                  <c:v>0.14499999999999999</c:v>
                </c:pt>
                <c:pt idx="3">
                  <c:v>0.38600000000000001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6-4202-B0E1-C2BFEF3509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BharatMart (Indian ecommerce)</c:v>
                </c:pt>
              </c:strCache>
            </c:strRef>
          </c:tx>
          <c:spPr>
            <a:solidFill>
              <a:srgbClr val="1A3557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33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 (Recency)</c:v>
                </c:pt>
                <c:pt idx="1">
                  <c:v>F (Frequency)</c:v>
                </c:pt>
                <c:pt idx="2">
                  <c:v>M (Monetary)</c:v>
                </c:pt>
                <c:pt idx="3">
                  <c:v>Q (Quantity)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3.0000000000000001E-3</c:v>
                </c:pt>
                <c:pt idx="1">
                  <c:v>0.17399999999999999</c:v>
                </c:pt>
                <c:pt idx="2">
                  <c:v>0.77400000000000002</c:v>
                </c:pt>
                <c:pt idx="3">
                  <c:v>4.9000000000000002E-2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D6-4202-B0E1-C2BFEF3509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DD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64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96475"/>
                </a:solidFill>
                <a:latin typeface="+mn-lt"/>
              </a:defRPr>
            </a:pPr>
            <a:r>
              <a:rPr lang="en-IN" sz="1100" b="0" i="0" u="none" strike="noStrike">
                <a:solidFill>
                  <a:srgbClr val="596475"/>
                </a:solidFill>
                <a:latin typeface="+mn-lt"/>
              </a:rPr>
              <a:t>Rating distribution: 369,230 reviews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BF202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8AB-4D2D-B27B-EB4F9F4B8DA1}"/>
              </c:ext>
            </c:extLst>
          </c:dPt>
          <c:dPt>
            <c:idx val="1"/>
            <c:invertIfNegative val="0"/>
            <c:bubble3D val="0"/>
            <c:spPr>
              <a:solidFill>
                <a:srgbClr val="E05A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AB-4D2D-B27B-EB4F9F4B8DA1}"/>
              </c:ext>
            </c:extLst>
          </c:dPt>
          <c:dPt>
            <c:idx val="2"/>
            <c:invertIfNegative val="0"/>
            <c:bubble3D val="0"/>
            <c:spPr>
              <a:solidFill>
                <a:srgbClr val="5964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8AB-4D2D-B27B-EB4F9F4B8DA1}"/>
              </c:ext>
            </c:extLst>
          </c:dPt>
          <c:dPt>
            <c:idx val="3"/>
            <c:invertIfNegative val="0"/>
            <c:bubble3D val="0"/>
            <c:spPr>
              <a:solidFill>
                <a:srgbClr val="4B7B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8AB-4D2D-B27B-EB4F9F4B8DA1}"/>
              </c:ext>
            </c:extLst>
          </c:dPt>
          <c:dPt>
            <c:idx val="4"/>
            <c:invertIfNegative val="0"/>
            <c:bubble3D val="0"/>
            <c:spPr>
              <a:solidFill>
                <a:srgbClr val="1A35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8AB-4D2D-B27B-EB4F9F4B8DA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33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star</c:v>
                </c:pt>
                <c:pt idx="1">
                  <c:v>2 stars</c:v>
                </c:pt>
                <c:pt idx="2">
                  <c:v>3 stars</c:v>
                </c:pt>
                <c:pt idx="3">
                  <c:v>4 stars</c:v>
                </c:pt>
                <c:pt idx="4">
                  <c:v>5 stars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51241</c:v>
                </c:pt>
                <c:pt idx="1">
                  <c:v>35318</c:v>
                </c:pt>
                <c:pt idx="2">
                  <c:v>58306</c:v>
                </c:pt>
                <c:pt idx="3">
                  <c:v>98039</c:v>
                </c:pt>
                <c:pt idx="4">
                  <c:v>155593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8AB-4D2D-B27B-EB4F9F4B8D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64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96475"/>
                </a:solidFill>
                <a:latin typeface="+mn-lt"/>
              </a:defRPr>
            </a:pPr>
            <a:r>
              <a:rPr lang="en-GB" sz="1100" b="0" i="0" u="none" strike="noStrike">
                <a:solidFill>
                  <a:srgbClr val="596475"/>
                </a:solidFill>
                <a:latin typeface="+mn-lt"/>
              </a:rPr>
              <a:t>Sentiment by churn band, red bar identical across all four</a:t>
            </a:r>
          </a:p>
        </c:rich>
      </c:tx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A6E5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74.8</c:v>
                </c:pt>
                <c:pt idx="1">
                  <c:v>74.599999999999994</c:v>
                </c:pt>
                <c:pt idx="2">
                  <c:v>73.8</c:v>
                </c:pt>
                <c:pt idx="3">
                  <c:v>74.2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46-4C10-B0AD-068BBBCC2E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59647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7.3</c:v>
                </c:pt>
                <c:pt idx="2">
                  <c:v>7.7</c:v>
                </c:pt>
                <c:pt idx="3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46-4C10-B0AD-068BBBCC2E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E05A1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17.2</c:v>
                </c:pt>
                <c:pt idx="1">
                  <c:v>18.100000000000001</c:v>
                </c:pt>
                <c:pt idx="2">
                  <c:v>18.5</c:v>
                </c:pt>
                <c:pt idx="3">
                  <c:v>18.3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46-4C10-B0AD-068BBBCC2E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64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50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345914F-F8F9-F28E-DFB4-E8DA9B354444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474452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2" imgH="414" progId="TCLayout.ActiveDocument.1">
                  <p:embed/>
                </p:oleObj>
              </mc:Choice>
              <mc:Fallback>
                <p:oleObj name="think-cell Slide" r:id="rId4" imgW="412" imgH="41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chart" Target="../charts/chart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0058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BharatMart 360°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11480" y="2011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Intelligence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2743200"/>
            <a:ext cx="6583680" cy="594360"/>
          </a:xfrm>
          <a:prstGeom prst="rect">
            <a:avLst/>
          </a:prstGeom>
          <a:solidFill>
            <a:srgbClr val="1E4976"/>
          </a:solidFill>
          <a:ln w="19050">
            <a:solidFill>
              <a:srgbClr val="E05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churns.  Why they leave.  What to offer.  Before every morning.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Databricks 14-Day AI Challenge   ·   March 2026   ·   Azure Databricks   ·   Azure SQL   ·   ADLS Gen2   ·   Azure Event Hub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3520440"/>
            <a:ext cx="1554480" cy="457200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M1 Churn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352044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</a:rPr>
              <a:t>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75688" y="3520440"/>
            <a:ext cx="1554480" cy="457200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075688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M2 RFM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0168" y="352044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39896" y="3520440"/>
            <a:ext cx="15544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39896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M3 ALS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94376" y="352044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04104" y="3520440"/>
            <a:ext cx="1554480" cy="457200"/>
          </a:xfrm>
          <a:prstGeom prst="rect">
            <a:avLst/>
          </a:prstGeom>
          <a:solidFill>
            <a:srgbClr val="A05C07"/>
          </a:solidFill>
          <a:ln w="12700">
            <a:solidFill>
              <a:srgbClr val="A05C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04104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M4 RFMQ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58584" y="3520440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68312" y="3520440"/>
            <a:ext cx="1554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68312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M5 Sentiment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 of four Indian buyers never return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1188" y="105156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1188" y="1051560"/>
            <a:ext cx="1920240" cy="54864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2628" y="1188720"/>
            <a:ext cx="173736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$147.3B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2628" y="2355494"/>
            <a:ext cx="1737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ecommerce market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$200B by 2026)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28316" y="105156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28316" y="1051560"/>
            <a:ext cx="1920240" cy="54864"/>
          </a:xfrm>
          <a:prstGeom prst="rect">
            <a:avLst/>
          </a:prstGeom>
          <a:solidFill>
            <a:srgbClr val="BF2025"/>
          </a:solidFill>
          <a:ln w="12700">
            <a:solidFill>
              <a:srgbClr val="BF2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19756" y="1188720"/>
            <a:ext cx="173736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F2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19756" y="2355494"/>
            <a:ext cx="1737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are one-time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95444" y="105156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95444" y="1051560"/>
            <a:ext cx="1920240" cy="54864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86884" y="1188720"/>
            <a:ext cx="173736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5-25×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86884" y="2355494"/>
            <a:ext cx="1737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acquire vs.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 customer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62572" y="105156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862572" y="1051560"/>
            <a:ext cx="1920240" cy="54864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54012" y="1188720"/>
            <a:ext cx="173736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25-95%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954012" y="2355494"/>
            <a:ext cx="1737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gain from just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better retention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54864" cy="777240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3337560"/>
            <a:ext cx="8001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2025"/>
                </a:solidFill>
              </a:rPr>
              <a:t>30%+ annual churn </a:t>
            </a:r>
            <a:r>
              <a:rPr lang="en-US" sz="1300" dirty="0">
                <a:solidFill>
                  <a:srgbClr val="1A2332"/>
                </a:solidFill>
              </a:rPr>
              <a:t>on Amazon India, Flipkart and Myntra.  Platforms spend more replacing lost customers than keeping existing ones.  The </a:t>
            </a:r>
            <a:r>
              <a:rPr lang="en-US" sz="1300" b="1" dirty="0">
                <a:solidFill>
                  <a:srgbClr val="E05A1A"/>
                </a:solidFill>
              </a:rPr>
              <a:t>30-90 days pre-churn window</a:t>
            </a:r>
            <a:r>
              <a:rPr lang="en-US" sz="1300" dirty="0">
                <a:solidFill>
                  <a:srgbClr val="1A2332"/>
                </a:solidFill>
              </a:rPr>
              <a:t> goes completely undetected in most systems.  BharatMart 360° is built to catch it.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92,107 customers scored.  62 need a call every morning.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32461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E0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customers need a call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every morning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5303520" cy="74980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01568" y="100584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</a:rPr>
              <a:t>92,107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663440" y="1042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 scored customers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408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ADCFC"/>
                </a:solidFill>
              </a:rPr>
              <a:t>agg_customer_360 nightly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7556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6475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4389120" cy="749808"/>
          </a:xfrm>
          <a:prstGeom prst="rect">
            <a:avLst/>
          </a:prstGeom>
          <a:solidFill>
            <a:srgbClr val="BF2025"/>
          </a:solidFill>
          <a:ln w="12700">
            <a:solidFill>
              <a:srgbClr val="BF2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01568" y="182880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</a:rPr>
              <a:t>1,139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63440" y="18653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Critical churn risk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2311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0F2F1"/>
                </a:solidFill>
              </a:rPr>
              <a:t>churn_probability &gt;= 0.75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57860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6475"/>
                </a:solidFill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651760"/>
            <a:ext cx="3474720" cy="749808"/>
          </a:xfrm>
          <a:prstGeom prst="rect">
            <a:avLst/>
          </a:prstGeom>
          <a:solidFill>
            <a:srgbClr val="A05C07"/>
          </a:solidFill>
          <a:ln w="12700">
            <a:solidFill>
              <a:srgbClr val="A05C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01568" y="26517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</a:rPr>
              <a:t>111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663440" y="2688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Urgent Champions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0F2F1"/>
                </a:solidFill>
              </a:rPr>
              <a:t>M1 × M2 combined signal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40156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6475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3474720"/>
            <a:ext cx="2560320" cy="749808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01568" y="34747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</a:rPr>
              <a:t>62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663440" y="35112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Call-ready with complaint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0F2F1"/>
                </a:solidFill>
              </a:rPr>
              <a:t>M1 × M2 × M5 intersection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Saving just 25% of the 62 recovers ₹51,522 this month, enough to pay for the entire infrastructure.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 confirmed the gap in December 2024.  BharatMart closes it.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11887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"Combining churn prediction, customer segmentation, and personalised recommendations in a single deployed framework fills a gap in the literature."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105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6475"/>
                </a:solidFill>
              </a:rPr>
              <a:t>Source: Springer Electronic Commerce Research, December 2024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1371600" cy="109728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2496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Churn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Prediction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XGBoost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57400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E1E7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286000" y="2423160"/>
            <a:ext cx="1371600" cy="1097280"/>
          </a:xfrm>
          <a:prstGeom prst="rect">
            <a:avLst/>
          </a:prstGeom>
          <a:solidFill>
            <a:srgbClr val="1D6A96"/>
          </a:solidFill>
          <a:ln w="12700">
            <a:solidFill>
              <a:srgbClr val="1D6A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86000" y="2496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RFM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Segmentation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K-Means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0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E1E7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86200" y="2423160"/>
            <a:ext cx="1371600" cy="10972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86200" y="2496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862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Personalised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ALS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57800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E1E7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0" y="2423160"/>
            <a:ext cx="1371600" cy="1097280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0" y="2496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Value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Re-ranking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RFMQ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0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E1E7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086600" y="2423160"/>
            <a:ext cx="1371600" cy="1097280"/>
          </a:xfrm>
          <a:prstGeom prst="rect">
            <a:avLst/>
          </a:prstGeom>
          <a:solidFill>
            <a:srgbClr val="A05C07"/>
          </a:solidFill>
          <a:ln w="12700">
            <a:solidFill>
              <a:srgbClr val="A05C0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086600" y="2496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866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Sentiment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Analysis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LLaMA 3.3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08960" y="3657600"/>
            <a:ext cx="292608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108960" y="36576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</a:rPr>
              <a:t>GAP CLOSED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BharatMart 360° is the first deployed system to integrate all five models in a single nightly pipeline, with output on a dashboard by 8AM.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to Silver to Gold: three sources, one nightly pipeline, one action list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920240" cy="47548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BRONZE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</a:rPr>
              <a:t>Ingestion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527048"/>
            <a:ext cx="1920240" cy="2359152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75488" y="1609344"/>
            <a:ext cx="1700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1208" y="164592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</a:rPr>
              <a:t>ADLS Gen2 AutoLoader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</a:rPr>
              <a:t>1,167,876 rows · 17 files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" y="2386584"/>
            <a:ext cx="1700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21208" y="242316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</a:rPr>
              <a:t>Event Hub Kafka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</a:rPr>
              <a:t>Orders · Payments · Sessions · Cart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3163824"/>
            <a:ext cx="1700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1208" y="320040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</a:rPr>
              <a:t>Azure SQL CDC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</a:rPr>
              <a:t>Customers · Products · Sellers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6475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68880" y="1051560"/>
            <a:ext cx="192024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68880" y="1051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SILVER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</a:rPr>
              <a:t>7 Quality Fixes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1527048"/>
            <a:ext cx="1920240" cy="2359152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578608" y="1609344"/>
            <a:ext cx="1700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624328" y="164592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5F46"/>
                </a:solidFill>
              </a:rPr>
              <a:t>Dedup · Dates · Ghost IDs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78608" y="2386584"/>
            <a:ext cx="1700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624328" y="242316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5F46"/>
                </a:solidFill>
              </a:rPr>
              <a:t>COALESCE dual-source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78608" y="3163824"/>
            <a:ext cx="1700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624328" y="320040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5F46"/>
                </a:solidFill>
              </a:rPr>
              <a:t>17 materialised views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0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6475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0" y="1051560"/>
            <a:ext cx="1920240" cy="47548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0" y="1051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GOLD + ML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</a:rPr>
              <a:t>5 Model Outputs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1527048"/>
            <a:ext cx="1920240" cy="2359152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81728" y="1609344"/>
            <a:ext cx="1700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27448" y="164592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40AF"/>
                </a:solidFill>
              </a:rPr>
              <a:t>20 Gold tables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81728" y="2386584"/>
            <a:ext cx="1700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27448" y="242316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40AF"/>
                </a:solidFill>
              </a:rPr>
              <a:t>5 ML output tables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81728" y="3163824"/>
            <a:ext cx="1700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27448" y="320040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40AF"/>
                </a:solidFill>
              </a:rPr>
              <a:t>All models scored nightly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6475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75120" y="1051560"/>
            <a:ext cx="1920240" cy="47548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675120" y="1051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AIBI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75120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</a:rPr>
              <a:t>Dashboard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75120" y="1527048"/>
            <a:ext cx="1920240" cy="2359152"/>
          </a:xfrm>
          <a:prstGeom prst="rect">
            <a:avLst/>
          </a:prstGeom>
          <a:solidFill>
            <a:srgbClr val="F5F3FF"/>
          </a:solidFill>
          <a:ln w="12700">
            <a:solidFill>
              <a:srgbClr val="6B21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784848" y="1609344"/>
            <a:ext cx="1700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830568" y="164592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21A8"/>
                </a:solidFill>
              </a:rPr>
              <a:t>5 dashboard pages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84848" y="2386584"/>
            <a:ext cx="1700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830568" y="242316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21A8"/>
                </a:solidFill>
              </a:rPr>
              <a:t>62 customers filtered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84848" y="3163824"/>
            <a:ext cx="17007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830568" y="320040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21A8"/>
                </a:solidFill>
              </a:rPr>
              <a:t>Ready by 8AM IST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One architecture handles batch, streaming, and CDC simultaneously.  One Silver fix propagates to all 20 Gold tables automatically.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real data problems found, documented, and fixed before any model ran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494407"/>
              </p:ext>
            </p:extLst>
          </p:nvPr>
        </p:nvGraphicFramePr>
        <p:xfrm>
          <a:off x="457200" y="1163574"/>
          <a:ext cx="8229600" cy="281635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Applied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customer_id (brz_orders)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23,552 rows (2%)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@dp.expect warn + _null_cust 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rows (all 11 fact tables)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~1% across 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dedup() keep latest _ingested_at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date formats (15% DD-MM)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175,372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parse_date() dual-format COALESCE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Dual-source column 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COALESCE(order_amount, subtotal)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Ghost order IDs (shipments + reviews)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33,192 + 9,030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_is_ghost_order flag; preserved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currency 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 by fx_rate from exchange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Real-world data is never clean.  Every fix lives in Silver and propagates automatically to all 20 Gold tables. Models always run on verified data.</a:t>
            </a:r>
            <a:endParaRPr lang="en-US" sz="1200" dirty="0"/>
          </a:p>
        </p:txBody>
      </p:sp>
      <p:sp>
        <p:nvSpPr>
          <p:cNvPr id="3" name="Text 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A711ED-280A-81D6-7A71-1E7A76765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2763"/>
            <a:ext cx="9144000" cy="273713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EA1A406-B146-724D-9D39-F0E7CC0F0189}"/>
              </a:ext>
            </a:extLst>
          </p:cNvPr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Project Pipeline Architecture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778364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XGBoost Churn:  Benchmark matched within 0.0005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335586552"/>
              </p:ext>
            </p:extLst>
          </p:nvPr>
        </p:nvGraphicFramePr>
        <p:xfrm>
          <a:off x="457200" y="960120"/>
          <a:ext cx="4754880" cy="2161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9" name="Group 38">
            <a:extLst>
              <a:ext uri="{FF2B5EF4-FFF2-40B4-BE49-F238E27FC236}">
                <a16:creationId xmlns:a16="http://schemas.microsoft.com/office/drawing/2014/main" id="{BB843420-FD2F-3AF8-84CB-DDA9BA508939}"/>
              </a:ext>
            </a:extLst>
          </p:cNvPr>
          <p:cNvGrpSpPr/>
          <p:nvPr/>
        </p:nvGrpSpPr>
        <p:grpSpPr>
          <a:xfrm>
            <a:off x="457200" y="3191256"/>
            <a:ext cx="4754880" cy="526695"/>
            <a:chOff x="457200" y="3657600"/>
            <a:chExt cx="4754880" cy="640080"/>
          </a:xfrm>
        </p:grpSpPr>
        <p:sp>
          <p:nvSpPr>
            <p:cNvPr id="4" name="Shape 1"/>
            <p:cNvSpPr/>
            <p:nvPr/>
          </p:nvSpPr>
          <p:spPr>
            <a:xfrm>
              <a:off x="457200" y="3657600"/>
              <a:ext cx="4754880" cy="640080"/>
            </a:xfrm>
            <a:prstGeom prst="rect">
              <a:avLst/>
            </a:prstGeom>
            <a:solidFill>
              <a:srgbClr val="F4F6F8"/>
            </a:solidFill>
            <a:ln w="12700">
              <a:solidFill>
                <a:srgbClr val="DDE1E7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Shape 2"/>
            <p:cNvSpPr/>
            <p:nvPr/>
          </p:nvSpPr>
          <p:spPr>
            <a:xfrm>
              <a:off x="457200" y="3657600"/>
              <a:ext cx="64008" cy="640080"/>
            </a:xfrm>
            <a:prstGeom prst="rect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3"/>
            <p:cNvSpPr/>
            <p:nvPr/>
          </p:nvSpPr>
          <p:spPr>
            <a:xfrm>
              <a:off x="621792" y="3675888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596475"/>
                  </a:solidFill>
                </a:rPr>
                <a:t>Paper benchmark</a:t>
              </a:r>
              <a:endParaRPr lang="en-US" sz="9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621792" y="3913632"/>
              <a:ext cx="14630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596475"/>
                  </a:solidFill>
                </a:rPr>
                <a:t>AUC 0.6505</a:t>
              </a:r>
              <a:endParaRPr lang="en-US" sz="13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2176272" y="3675888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596475"/>
                  </a:solidFill>
                </a:rPr>
                <a:t>Our result</a:t>
              </a:r>
              <a:endParaRPr lang="en-US" sz="9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2176272" y="3913632"/>
              <a:ext cx="14630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A3557"/>
                  </a:solidFill>
                </a:rPr>
                <a:t>AUC 0.6500</a:t>
              </a:r>
              <a:endParaRPr lang="en-US" sz="13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3730752" y="3675888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596475"/>
                  </a:solidFill>
                </a:rPr>
                <a:t>Gap / Status</a:t>
              </a:r>
              <a:endParaRPr lang="en-US" sz="9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3730752" y="3913632"/>
              <a:ext cx="14630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A6E5F"/>
                  </a:solidFill>
                </a:rPr>
                <a:t>0.0005  Matched</a:t>
              </a:r>
              <a:endParaRPr lang="en-US" sz="13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BDFBAE2-40F2-0D06-F43C-6BF6F9F9B100}"/>
              </a:ext>
            </a:extLst>
          </p:cNvPr>
          <p:cNvGrpSpPr/>
          <p:nvPr/>
        </p:nvGrpSpPr>
        <p:grpSpPr>
          <a:xfrm>
            <a:off x="457200" y="3863694"/>
            <a:ext cx="4754880" cy="347472"/>
            <a:chOff x="457200" y="4352544"/>
            <a:chExt cx="4754880" cy="347472"/>
          </a:xfrm>
        </p:grpSpPr>
        <p:sp>
          <p:nvSpPr>
            <p:cNvPr id="12" name="Shape 9"/>
            <p:cNvSpPr/>
            <p:nvPr/>
          </p:nvSpPr>
          <p:spPr>
            <a:xfrm>
              <a:off x="457200" y="4352544"/>
              <a:ext cx="4754880" cy="347472"/>
            </a:xfrm>
            <a:prstGeom prst="rect">
              <a:avLst/>
            </a:prstGeom>
            <a:solidFill>
              <a:srgbClr val="FFF8F6"/>
            </a:solidFill>
            <a:ln w="12700">
              <a:solidFill>
                <a:srgbClr val="DDE1E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0"/>
            <p:cNvSpPr/>
            <p:nvPr/>
          </p:nvSpPr>
          <p:spPr>
            <a:xfrm>
              <a:off x="566928" y="4370832"/>
              <a:ext cx="45720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596475"/>
                  </a:solidFill>
                </a:rPr>
                <a:t>Key finding: initial AUC was 0.9922 (data leakage via recency_days). Removed leaky features. Genuine AUC: 0.6500.</a:t>
              </a:r>
              <a:endParaRPr lang="en-US" sz="1000" dirty="0"/>
            </a:p>
          </p:txBody>
        </p:sp>
      </p:grpSp>
      <p:sp>
        <p:nvSpPr>
          <p:cNvPr id="14" name="Shape 11"/>
          <p:cNvSpPr/>
          <p:nvPr/>
        </p:nvSpPr>
        <p:spPr>
          <a:xfrm>
            <a:off x="5486400" y="96012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86400" y="960120"/>
            <a:ext cx="64008" cy="685800"/>
          </a:xfrm>
          <a:prstGeom prst="rect">
            <a:avLst/>
          </a:prstGeom>
          <a:solidFill>
            <a:srgbClr val="BF2025"/>
          </a:solidFill>
          <a:ln w="12700">
            <a:solidFill>
              <a:srgbClr val="BF2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623560" y="1033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F2025"/>
                </a:solidFill>
              </a:rPr>
              <a:t>1,139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623560" y="13533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475"/>
                </a:solidFill>
              </a:rPr>
              <a:t>Critical  ≥ 0.75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0" y="1033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F2025"/>
                </a:solidFill>
              </a:rPr>
              <a:t>1.2%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0" y="1764792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5486400" y="1764792"/>
            <a:ext cx="64008" cy="685800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623560" y="18379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5A1A"/>
                </a:solidFill>
              </a:rPr>
              <a:t>58,422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623560" y="21579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475"/>
                </a:solidFill>
              </a:rPr>
              <a:t>High  0.50–0.75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06640" y="18379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05A1A"/>
                </a:solidFill>
              </a:rPr>
              <a:t>63.4%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486400" y="2569464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5486400" y="2569464"/>
            <a:ext cx="64008" cy="685800"/>
          </a:xfrm>
          <a:prstGeom prst="rect">
            <a:avLst/>
          </a:prstGeom>
          <a:solidFill>
            <a:srgbClr val="A05C07"/>
          </a:solidFill>
          <a:ln w="12700">
            <a:solidFill>
              <a:srgbClr val="A05C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623560" y="26426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05C07"/>
                </a:solidFill>
              </a:rPr>
              <a:t>17,998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623560" y="29626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475"/>
                </a:solidFill>
              </a:rPr>
              <a:t>Medium  0.25–0.50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06640" y="26426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05C07"/>
                </a:solidFill>
              </a:rPr>
              <a:t>19.5%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6400" y="3374136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5486400" y="3374136"/>
            <a:ext cx="64008" cy="685800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5623560" y="3447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6E5F"/>
                </a:solidFill>
              </a:rPr>
              <a:t>14,548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5623560" y="37673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475"/>
                </a:solidFill>
              </a:rPr>
              <a:t>Low  &lt; 0.25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406640" y="34472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A6E5F"/>
                </a:solidFill>
              </a:rPr>
              <a:t>15.8%</a:t>
            </a:r>
            <a:endParaRPr lang="en-US" sz="18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9EDD212-B6BA-A401-086A-94AC074232CA}"/>
              </a:ext>
            </a:extLst>
          </p:cNvPr>
          <p:cNvGrpSpPr/>
          <p:nvPr/>
        </p:nvGrpSpPr>
        <p:grpSpPr>
          <a:xfrm>
            <a:off x="457200" y="4386308"/>
            <a:ext cx="8229600" cy="502920"/>
            <a:chOff x="457200" y="4407408"/>
            <a:chExt cx="8229600" cy="502920"/>
          </a:xfrm>
        </p:grpSpPr>
        <p:sp>
          <p:nvSpPr>
            <p:cNvPr id="34" name="Shape 31"/>
            <p:cNvSpPr/>
            <p:nvPr/>
          </p:nvSpPr>
          <p:spPr>
            <a:xfrm>
              <a:off x="457200" y="4407408"/>
              <a:ext cx="8229600" cy="50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DE1E7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Shape 32"/>
            <p:cNvSpPr/>
            <p:nvPr/>
          </p:nvSpPr>
          <p:spPr>
            <a:xfrm>
              <a:off x="457200" y="4407408"/>
              <a:ext cx="64008" cy="502920"/>
            </a:xfrm>
            <a:prstGeom prst="rect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 33"/>
            <p:cNvSpPr/>
            <p:nvPr/>
          </p:nvSpPr>
          <p:spPr>
            <a:xfrm>
              <a:off x="621792" y="4425696"/>
              <a:ext cx="790956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3557"/>
                  </a:solidFill>
                </a:rPr>
                <a:t>So what  </a:t>
              </a:r>
              <a:r>
                <a:rPr lang="en-US" sz="1200" dirty="0">
                  <a:solidFill>
                    <a:srgbClr val="1A2332"/>
                  </a:solidFill>
                </a:rPr>
                <a:t>Same algorithm wins on Brazil and Indian data. Different country, different market, same result.  This is cross-dataset validation of the research benchmark.</a:t>
              </a:r>
              <a:endParaRPr lang="en-US" sz="1200" dirty="0"/>
            </a:p>
          </p:txBody>
        </p:sp>
      </p:grpSp>
      <p:sp>
        <p:nvSpPr>
          <p:cNvPr id="37" name="Text 3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SHAP Analysis:  Spending predicts churn 14 times better than star ratings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436971161"/>
              </p:ext>
            </p:extLst>
          </p:nvPr>
        </p:nvGraphicFramePr>
        <p:xfrm>
          <a:off x="457200" y="960120"/>
          <a:ext cx="56692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309360" y="96012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309360" y="960120"/>
            <a:ext cx="2377440" cy="457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355080" y="1051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3557"/>
                </a:solidFill>
              </a:rPr>
              <a:t>14×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355080" y="1435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475"/>
                </a:solidFill>
              </a:rPr>
              <a:t>total_spent is 14x more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96475"/>
                </a:solidFill>
              </a:rPr>
              <a:t>predictive than avg_rating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09360" y="205740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309360" y="2057400"/>
            <a:ext cx="2377440" cy="457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355080" y="2148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3557"/>
                </a:solidFill>
              </a:rPr>
              <a:t>0.42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355080" y="25328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475"/>
                </a:solidFill>
              </a:rPr>
              <a:t>SHAP value for total_spent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96475"/>
                </a:solidFill>
              </a:rPr>
              <a:t>(largest of all 8 features)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09360" y="315468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309360" y="3154680"/>
            <a:ext cx="2377440" cy="45720"/>
          </a:xfrm>
          <a:prstGeom prst="rect">
            <a:avLst/>
          </a:prstGeom>
          <a:solidFill>
            <a:srgbClr val="BF2025"/>
          </a:solidFill>
          <a:ln w="12700">
            <a:solidFill>
              <a:srgbClr val="BF2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355080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F2025"/>
                </a:solidFill>
              </a:rPr>
              <a:t>0.03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355080" y="3630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475"/>
                </a:solidFill>
              </a:rPr>
              <a:t>SHAP value for avg_rating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96475"/>
                </a:solidFill>
              </a:rPr>
              <a:t>(weakest, yet most tracked)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Churning customers stopped spending. They did not complain.  The same SHAP ranking appears on Brazil and India data.  Ratings are noise.  Spending is the signal.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think-cell data - do not delete" hidden="1">
            <a:extLst>
              <a:ext uri="{FF2B5EF4-FFF2-40B4-BE49-F238E27FC236}">
                <a16:creationId xmlns:a16="http://schemas.microsoft.com/office/drawing/2014/main" id="{42A164A6-B52E-690A-999E-C6E30283B6D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61762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2" imgH="414" progId="TCLayout.ActiveDocument.1">
                  <p:embed/>
                </p:oleObj>
              </mc:Choice>
              <mc:Fallback>
                <p:oleObj name="think-cell Slide" r:id="rId4" imgW="412" imgH="41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Shape 9">
            <a:extLst>
              <a:ext uri="{FF2B5EF4-FFF2-40B4-BE49-F238E27FC236}">
                <a16:creationId xmlns:a16="http://schemas.microsoft.com/office/drawing/2014/main" id="{740EAACB-5AA5-F9D4-B026-6E23B440E76B}"/>
              </a:ext>
            </a:extLst>
          </p:cNvPr>
          <p:cNvSpPr/>
          <p:nvPr/>
        </p:nvSpPr>
        <p:spPr>
          <a:xfrm>
            <a:off x="521208" y="3931920"/>
            <a:ext cx="3593592" cy="347472"/>
          </a:xfrm>
          <a:prstGeom prst="rect">
            <a:avLst/>
          </a:prstGeom>
          <a:solidFill>
            <a:srgbClr val="FFF8F6"/>
          </a:solidFill>
          <a:ln w="1270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RFM Segmentation:  One Champion equals 122 At Risk customers in lifetime revenue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547287444"/>
              </p:ext>
            </p:extLst>
          </p:nvPr>
        </p:nvGraphicFramePr>
        <p:xfrm>
          <a:off x="457200" y="960120"/>
          <a:ext cx="3657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950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6475"/>
                </a:solidFill>
              </a:rPr>
              <a:t>K=3 confirmed by all three methods: Elbow · Silhouette 0.4108 · Calinski-Harabasz 71,482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97680" y="960120"/>
            <a:ext cx="1463040" cy="3657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343400" y="960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Segment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760720" y="960120"/>
            <a:ext cx="1005840" cy="3657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806440" y="9601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960120"/>
            <a:ext cx="1005840" cy="3657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812280" y="9601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LTV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0" y="960120"/>
            <a:ext cx="914400" cy="3657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818120" y="9601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Recency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132588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297680" y="1325880"/>
            <a:ext cx="54864" cy="548640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389120" y="132588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6E5F"/>
                </a:solidFill>
              </a:rPr>
              <a:t>Champions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60720" y="132588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806440" y="132588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</a:rPr>
              <a:t>13,948  15.1%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766560" y="132588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812280" y="132588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</a:rPr>
              <a:t>₹69,207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72400" y="132588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818120" y="132588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</a:rPr>
              <a:t>2 days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297680" y="1892808"/>
            <a:ext cx="1463040" cy="548640"/>
          </a:xfrm>
          <a:prstGeom prst="rect">
            <a:avLst/>
          </a:prstGeom>
          <a:solidFill>
            <a:srgbClr val="F4F6F8"/>
          </a:solidFill>
          <a:ln w="635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297680" y="1892808"/>
            <a:ext cx="54864" cy="548640"/>
          </a:xfrm>
          <a:prstGeom prst="rect">
            <a:avLst/>
          </a:prstGeom>
          <a:solidFill>
            <a:srgbClr val="4B7BE5"/>
          </a:solidFill>
          <a:ln w="12700">
            <a:solidFill>
              <a:srgbClr val="4B7B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89120" y="189280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7BE5"/>
                </a:solidFill>
              </a:rPr>
              <a:t>Loyal Customers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760720" y="1892808"/>
            <a:ext cx="1005840" cy="548640"/>
          </a:xfrm>
          <a:prstGeom prst="rect">
            <a:avLst/>
          </a:prstGeom>
          <a:solidFill>
            <a:srgbClr val="F4F6F8"/>
          </a:solidFill>
          <a:ln w="635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806440" y="1892808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</a:rPr>
              <a:t>46,439  50.4%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766560" y="1892808"/>
            <a:ext cx="1005840" cy="548640"/>
          </a:xfrm>
          <a:prstGeom prst="rect">
            <a:avLst/>
          </a:prstGeom>
          <a:solidFill>
            <a:srgbClr val="F4F6F8"/>
          </a:solidFill>
          <a:ln w="635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812280" y="1892808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</a:rPr>
              <a:t>₹2,209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772400" y="1892808"/>
            <a:ext cx="914400" cy="548640"/>
          </a:xfrm>
          <a:prstGeom prst="rect">
            <a:avLst/>
          </a:prstGeom>
          <a:solidFill>
            <a:srgbClr val="F4F6F8"/>
          </a:solidFill>
          <a:ln w="635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7818120" y="1892808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</a:rPr>
              <a:t>52 days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297680" y="2459736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297680" y="2459736"/>
            <a:ext cx="54864" cy="548640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389120" y="245973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5A1A"/>
                </a:solidFill>
              </a:rPr>
              <a:t>At Risk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760720" y="2459736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5806440" y="2459736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</a:rPr>
              <a:t>31,720  34.4%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766560" y="2459736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6812280" y="2459736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</a:rPr>
              <a:t>₹565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7772400" y="2459736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7818120" y="2459736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</a:rPr>
              <a:t>66 days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4297680" y="3035808"/>
            <a:ext cx="4389120" cy="749808"/>
          </a:xfrm>
          <a:prstGeom prst="rect">
            <a:avLst/>
          </a:prstGeom>
          <a:solidFill>
            <a:srgbClr val="FFF7ED"/>
          </a:solidFill>
          <a:ln w="19050">
            <a:solidFill>
              <a:srgbClr val="E05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4407408" y="3063240"/>
            <a:ext cx="4169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5A1A"/>
                </a:solidFill>
              </a:rPr>
              <a:t>111 Urgent Champions</a:t>
            </a:r>
            <a:endParaRPr lang="en-US" sz="1900" dirty="0"/>
          </a:p>
          <a:p>
            <a:pPr marL="0" indent="0">
              <a:buNone/>
            </a:pPr>
            <a:r>
              <a:rPr lang="en-US" sz="1050" dirty="0">
                <a:solidFill>
                  <a:srgbClr val="596475"/>
                </a:solidFill>
              </a:rPr>
              <a:t>Champions with churn_prob ≥ 0.5  ·  Only M1 × M2 together produce this list</a:t>
            </a:r>
            <a:endParaRPr lang="en-US" sz="1900" dirty="0"/>
          </a:p>
        </p:txBody>
      </p:sp>
      <p:sp>
        <p:nvSpPr>
          <p:cNvPr id="42" name="Shape 39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₹69,207 (Champions) vs ₹565 (At Risk) = 122× revenue difference.  A generic campaign treating all three identically is wasting most of its budget.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ALS Collaborative Filtering:  9.5x better than random, 97.1% customer coverage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62579"/>
              </p:ext>
            </p:extLst>
          </p:nvPr>
        </p:nvGraphicFramePr>
        <p:xfrm>
          <a:off x="365760" y="987552"/>
          <a:ext cx="5394960" cy="24688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Tested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(latent factors)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{10, 20, 50}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regParam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{0.01, 0.1, 1.0}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{10, 20}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weights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purchase=1.0, cart=0.5, review=2.0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A6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implicitPrefs=True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6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RMSE 1.4485 (explicit mode)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6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9.5x random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61188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96475"/>
                </a:solidFill>
              </a:rPr>
              <a:t>18 parameter combinations tested across 3 CrossValidator folds  ·  54 total ALS fits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943600" y="987552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943600" y="987552"/>
            <a:ext cx="2743200" cy="6400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989320" y="11247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557"/>
                </a:solidFill>
              </a:rPr>
              <a:t>9.5×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989320" y="17373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Better than random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(Precision@10)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2404872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943600" y="2404872"/>
            <a:ext cx="2743200" cy="64008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8"/>
          <p:cNvSpPr/>
          <p:nvPr/>
        </p:nvSpPr>
        <p:spPr>
          <a:xfrm>
            <a:off x="5989320" y="25420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6E5F"/>
                </a:solidFill>
              </a:rPr>
              <a:t>97.1%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989320" y="31546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Customer coverage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(87,772 personalised)</a:t>
            </a:r>
            <a:endParaRPr lang="en-US" sz="11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8EBAB1-2E4E-223D-38B3-ECD56B7BD1E0}"/>
              </a:ext>
            </a:extLst>
          </p:cNvPr>
          <p:cNvGrpSpPr/>
          <p:nvPr/>
        </p:nvGrpSpPr>
        <p:grpSpPr>
          <a:xfrm>
            <a:off x="5943600" y="3813048"/>
            <a:ext cx="2743200" cy="356616"/>
            <a:chOff x="5943600" y="3822192"/>
            <a:chExt cx="2743200" cy="256032"/>
          </a:xfrm>
        </p:grpSpPr>
        <p:sp>
          <p:nvSpPr>
            <p:cNvPr id="13" name="Shape 10"/>
            <p:cNvSpPr/>
            <p:nvPr/>
          </p:nvSpPr>
          <p:spPr>
            <a:xfrm>
              <a:off x="5943600" y="3822192"/>
              <a:ext cx="2743200" cy="256032"/>
            </a:xfrm>
            <a:prstGeom prst="rect">
              <a:avLst/>
            </a:prstGeom>
            <a:solidFill>
              <a:srgbClr val="F4F6F8"/>
            </a:solidFill>
            <a:ln w="12700">
              <a:solidFill>
                <a:srgbClr val="DDE1E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1"/>
            <p:cNvSpPr/>
            <p:nvPr/>
          </p:nvSpPr>
          <p:spPr>
            <a:xfrm>
              <a:off x="5943600" y="3840480"/>
              <a:ext cx="2743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i="1" dirty="0">
                  <a:solidFill>
                    <a:srgbClr val="596475"/>
                  </a:solidFill>
                </a:rPr>
                <a:t>Serverless: numpy U@V.T in 1,000-user chunks  ·  ~8 min scoring</a:t>
              </a:r>
              <a:endParaRPr lang="en-US" sz="850" dirty="0"/>
            </a:p>
          </p:txBody>
        </p:sp>
      </p:grpSp>
      <p:sp>
        <p:nvSpPr>
          <p:cNvPr id="15" name="Shape 12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Padhy et al. warned ALS overfits without careful tuning.  We tested 18 combinations.  Result: 9.5x better than random on a 47,000-product catalog with 97.1% of customers receiving a personalised list.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RFMQ Re-Ranking:  Right product at rank top, not rank lowest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4121069893"/>
              </p:ext>
            </p:extLst>
          </p:nvPr>
        </p:nvGraphicFramePr>
        <p:xfrm>
          <a:off x="457200" y="96012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960120"/>
            <a:ext cx="2743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943600" y="960120"/>
            <a:ext cx="2743200" cy="45720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989320" y="103327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A1A"/>
                </a:solidFill>
              </a:rPr>
              <a:t>+25.5%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89320" y="1344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NDCG@10 improvement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after RFMQ re-ranking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1764792"/>
            <a:ext cx="2743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943600" y="1764792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89320" y="183794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M=0.774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8932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Monetary dominates in India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vs 0.145 in paper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2569464"/>
            <a:ext cx="2743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943600" y="2569464"/>
            <a:ext cx="2743200" cy="457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989320" y="264261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557"/>
                </a:solidFill>
              </a:rPr>
              <a:t>+2.0%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989320" y="2953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Precision@10 improvement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(rank quality confirmed)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0" y="3374136"/>
            <a:ext cx="2743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5943600" y="3374136"/>
            <a:ext cx="2743200" cy="45720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989320" y="344728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6E5F"/>
                </a:solidFill>
              </a:rPr>
              <a:t>0 train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989320" y="3758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Deterministic re-ranking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no separate model training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India is a Monetary-first market. Customers buy less often but spend more per purchase.  The entropy formula detected this automatically without human input.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Sentiment Analysis:  40,970 customers look satisfied.  They are not.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109545321"/>
              </p:ext>
            </p:extLst>
          </p:nvPr>
        </p:nvGraphicFramePr>
        <p:xfrm>
          <a:off x="457200" y="96012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49040"/>
            <a:ext cx="4114800" cy="594360"/>
          </a:xfrm>
          <a:prstGeom prst="rect">
            <a:avLst/>
          </a:prstGeom>
          <a:solidFill>
            <a:srgbClr val="FFF7ED"/>
          </a:solidFill>
          <a:ln w="1905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640" y="37947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</a:rPr>
              <a:t>40,970 gave 4-5 stars but wrote NEGATIVE review text, invisible to star-rating analysis</a:t>
            </a:r>
            <a:endParaRPr lang="en-US" sz="1150" dirty="0"/>
          </a:p>
        </p:txBody>
      </p:sp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3020483821"/>
              </p:ext>
            </p:extLst>
          </p:nvPr>
        </p:nvGraphicFramePr>
        <p:xfrm>
          <a:off x="4754880" y="960120"/>
          <a:ext cx="3931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754880" y="3749040"/>
            <a:ext cx="3931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4846320" y="3794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</a:rPr>
              <a:t>18% negative across ALL four bands. Reviews alone do not predict churn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The signal is churn risk PLUS negative sentiment together, not either alone.  That intersection is the 62.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produces the 62.  All five together do.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92,107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920240" y="9601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Total customers scored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0" y="960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</a:rPr>
              <a:t>agg_customer_360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1E7"/>
                </a:solidFill>
              </a:rPr>
              <a:t>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563624"/>
            <a:ext cx="7315200" cy="548640"/>
          </a:xfrm>
          <a:prstGeom prst="rect">
            <a:avLst/>
          </a:prstGeom>
          <a:solidFill>
            <a:srgbClr val="BF2025"/>
          </a:solidFill>
          <a:ln w="12700">
            <a:solidFill>
              <a:srgbClr val="BF202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24128" y="156362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1,139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563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Critical churn risk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0" y="15636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</a:rPr>
              <a:t>M1 XGBoost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112264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1E7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0" y="2167128"/>
            <a:ext cx="6400800" cy="548640"/>
          </a:xfrm>
          <a:prstGeom prst="rect">
            <a:avLst/>
          </a:prstGeom>
          <a:solidFill>
            <a:srgbClr val="A05C07"/>
          </a:solidFill>
          <a:ln w="12700">
            <a:solidFill>
              <a:srgbClr val="A05C0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481328" y="21671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111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34640" y="21671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Urgent Champions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03520" y="21671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</a:rPr>
              <a:t>M1 x M2 K-Means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2715768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1E7"/>
                </a:solidFill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2770632"/>
            <a:ext cx="5486400" cy="548640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938528" y="27706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62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91840" y="2770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</a:rPr>
              <a:t>Call-ready: complaint + rec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2770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</a:rPr>
              <a:t>M1 x M2 x M5 + M3/M4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7200" y="3675888"/>
            <a:ext cx="64008" cy="594360"/>
          </a:xfrm>
          <a:prstGeom prst="rect">
            <a:avLst/>
          </a:prstGeom>
          <a:solidFill>
            <a:srgbClr val="BF2025"/>
          </a:solidFill>
          <a:ln w="12700">
            <a:solidFill>
              <a:srgbClr val="BF2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4360" y="37033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2025"/>
                </a:solidFill>
              </a:rPr>
              <a:t>Churn risk</a:t>
            </a:r>
            <a:r>
              <a:rPr lang="en-US" sz="1150" dirty="0">
                <a:solidFill>
                  <a:srgbClr val="596475"/>
                </a:solidFill>
              </a:rPr>
              <a:t>  Who is leaving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3675888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91840" y="3675888"/>
            <a:ext cx="64008" cy="594360"/>
          </a:xfrm>
          <a:prstGeom prst="rect">
            <a:avLst/>
          </a:prstGeom>
          <a:solidFill>
            <a:srgbClr val="A05C07"/>
          </a:solidFill>
          <a:ln w="12700">
            <a:solidFill>
              <a:srgbClr val="A05C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29000" y="37033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5C07"/>
                </a:solidFill>
              </a:rPr>
              <a:t>Segment</a:t>
            </a:r>
            <a:r>
              <a:rPr lang="en-US" sz="1150" dirty="0">
                <a:solidFill>
                  <a:srgbClr val="596475"/>
                </a:solidFill>
              </a:rPr>
              <a:t>  How much they are worth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3675888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26480" y="3675888"/>
            <a:ext cx="64008" cy="594360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63640" y="37033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6E5F"/>
                </a:solidFill>
              </a:rPr>
              <a:t>Sentiment</a:t>
            </a:r>
            <a:r>
              <a:rPr lang="en-US" sz="1150" dirty="0">
                <a:solidFill>
                  <a:srgbClr val="596475"/>
                </a:solidFill>
              </a:rPr>
              <a:t>  Why they are unhappy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M1 alone finds 1,139 at risk.  M1+M2 narrows to 111 high-value.  M1+M2+M5 produces 62 call-ready with specific complaint and personalised product recommendation.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papers.  Five benchmarks.  All met or exceeded.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8529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BharatMart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 XGBoost Churn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Matuszelanski &amp; Kopczewska (2022) JTAER IF 4.6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0.6505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0.6500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Gap: 0.0005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6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 K-Means RFM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Wong, Tong &amp; Haw (2024) JTDE Vol.12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0.47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0.4108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25× larger 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4B7B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 ALS Filter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Padhy et al. (2024) MDPI Eng. Proc.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1.4485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(explicit)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9.5× random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vs explicit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05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 RFMQ Re-Rank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 (2025) Frontiers Big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+81% at TOP-5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 +25.5%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India: M=0.774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0.145 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6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 LLM Sentiment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Roumeliotis et al. (2024) Elsevier NLP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Near-zero parse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failures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369,230 reviews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40,970 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dissatisfied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1330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96475"/>
                </a:solidFill>
              </a:rPr>
              <a:t>[7] 10.3390/jtaer17010009  [8] 10.18080/jtde.v12n3.978  [13] 10.3390/engproc2024067050  [14] 10.3389/fdata.2025.1680669  [15] 10.1016/j.nlp.2024.100056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Five DOIs.  All independently verifiable.  Every result is reproducible.  No metric was cherry-picked across multiple papers.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dashboard pages.  No SQL.  Ready every morning.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34340" y="1005840"/>
            <a:ext cx="1508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55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4340" y="1005840"/>
            <a:ext cx="1508760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34340" y="104241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492" y="160020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557"/>
                </a:solidFill>
              </a:rPr>
              <a:t>Retention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3557"/>
                </a:solidFill>
              </a:rPr>
              <a:t>Funnel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492" y="256032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92K → 62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funnel visual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25980" y="1005840"/>
            <a:ext cx="1508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BF202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125980" y="1005840"/>
            <a:ext cx="1508760" cy="502920"/>
          </a:xfrm>
          <a:prstGeom prst="rect">
            <a:avLst/>
          </a:prstGeom>
          <a:solidFill>
            <a:srgbClr val="BF2025"/>
          </a:solidFill>
          <a:ln w="12700">
            <a:solidFill>
              <a:srgbClr val="BF2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125980" y="104241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9132" y="160020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2025"/>
                </a:solidFill>
              </a:rPr>
              <a:t>Churn Risk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BF2025"/>
                </a:solidFill>
              </a:rPr>
              <a:t>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9132" y="256032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1,139 critical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SHAP reasons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17620" y="1005840"/>
            <a:ext cx="1508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A05C0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817620" y="1005840"/>
            <a:ext cx="1508760" cy="502920"/>
          </a:xfrm>
          <a:prstGeom prst="rect">
            <a:avLst/>
          </a:prstGeom>
          <a:solidFill>
            <a:srgbClr val="A05C07"/>
          </a:solidFill>
          <a:ln w="12700">
            <a:solidFill>
              <a:srgbClr val="A05C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17620" y="104241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90772" y="160020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5C07"/>
                </a:solidFill>
              </a:rPr>
              <a:t>Customer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A05C07"/>
                </a:solidFill>
              </a:rPr>
              <a:t>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90772" y="256032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122× LTV gap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Segment heatmap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09260" y="1005840"/>
            <a:ext cx="1508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509260" y="1005840"/>
            <a:ext cx="1508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509260" y="104241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82412" y="160020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Review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Insights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82412" y="256032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40,970 hidden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dissatisfied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00900" y="1005840"/>
            <a:ext cx="1508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6E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200900" y="1005840"/>
            <a:ext cx="1508760" cy="502920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200900" y="104241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74052" y="160020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6E5F"/>
                </a:solidFill>
              </a:rPr>
              <a:t>Action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6E5F"/>
                </a:solidFill>
              </a:rPr>
              <a:t>Center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74052" y="256032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62 call-ready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5 model outputs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749040"/>
            <a:ext cx="237744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377647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3557"/>
                </a:solidFill>
              </a:rPr>
              <a:t>369,230  Reviews analysed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83280" y="3749040"/>
            <a:ext cx="237744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74720" y="377647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3AED"/>
                </a:solidFill>
              </a:rPr>
              <a:t>40,970  Hidden dissatisfied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3749040"/>
            <a:ext cx="237744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17920" y="377647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6E5F"/>
                </a:solidFill>
              </a:rPr>
              <a:t>62  Urgent action customers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Non-technical teams get the full story every morning without writing a single line of SQL.  Genie Space handles natural-language queries across all Gold tables.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morning: who to call, why they are leaving, what to offer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2377440" cy="45720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8952" y="98755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6E5F"/>
                </a:solidFill>
              </a:rPr>
              <a:t>62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58952" y="140817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475"/>
                </a:solidFill>
              </a:rPr>
              <a:t>Customers requiring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96475"/>
                </a:solidFill>
              </a:rPr>
              <a:t>immediate action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91440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383280" y="914400"/>
            <a:ext cx="2377440" cy="45720"/>
          </a:xfrm>
          <a:prstGeom prst="rect">
            <a:avLst/>
          </a:prstGeom>
          <a:solidFill>
            <a:srgbClr val="BF2025"/>
          </a:solidFill>
          <a:ln w="12700">
            <a:solidFill>
              <a:srgbClr val="BF2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6432" y="98755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2025"/>
                </a:solidFill>
              </a:rPr>
              <a:t>55.2%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56432" y="140817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475"/>
                </a:solidFill>
              </a:rPr>
              <a:t>Average churn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96475"/>
                </a:solidFill>
              </a:rPr>
              <a:t>probability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91440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80760" y="914400"/>
            <a:ext cx="2377440" cy="45720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53912" y="98755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A1A"/>
                </a:solidFill>
              </a:rPr>
              <a:t>₹2,06,090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53912" y="140817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475"/>
                </a:solidFill>
              </a:rPr>
              <a:t>Total revenue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96475"/>
                </a:solidFill>
              </a:rPr>
              <a:t>at risk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8412480" cy="2331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Prob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Reason (SHAP)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(M5)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3 Products (RFMQ)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6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CUST0030407  Champion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F2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avg_order_value 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5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quality, damaged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PROD0023861 | PROD0003799 | PROD0023697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6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CUST0013117  Champion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F2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avg_order_value 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5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 fit, not suitable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PROD0004697 | PROD0027464 | PROD0047956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6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CUST0085954  Champion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F2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avg_order_value 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5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PROD0033199 | PROD0041443 | PROD0028739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6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CUST0038468  Champion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F2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avg_order_value 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5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cooling effect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PROD0005416 | PROD0020296 | PROD0034011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6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CUST0058596  Champion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F20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total_spent 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5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delivery, damaged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9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PROD0016926 | PROD0031485 | PROD0047187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365760" y="44074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6475"/>
                </a:solidFill>
              </a:rPr>
              <a:t>Showing 5 of 62  ·  Full list on AIBI Dashboard Page 5  ·  Sorted by churn_prob DESC  ·  All 5 model outputs per row</a:t>
            </a:r>
            <a:endParaRPr lang="en-US" sz="900" dirty="0"/>
          </a:p>
        </p:txBody>
      </p:sp>
      <p:sp>
        <p:nvSpPr>
          <p:cNvPr id="15" name="Text 1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pipeline pay for itself?  Yes, saving 16 customers is enough.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2918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38404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is at risk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557"/>
                </a:solidFill>
              </a:rPr>
              <a:t>62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Urgent customers identified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579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557"/>
                </a:solidFill>
              </a:rPr>
              <a:t>₹3,324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25511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Avg lifetime value each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8712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2025"/>
                </a:solidFill>
              </a:rPr>
              <a:t>₹2,06,090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" y="3264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Total revenue at 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584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05C07"/>
                </a:solidFill>
              </a:rPr>
              <a:t>55.2%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4360" y="3977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Avg churn probability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286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DE1E7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800600" y="960120"/>
            <a:ext cx="3886200" cy="3291840"/>
          </a:xfrm>
          <a:prstGeom prst="rect">
            <a:avLst/>
          </a:prstGeom>
          <a:solidFill>
            <a:srgbClr val="F4F6F8"/>
          </a:solidFill>
          <a:ln w="25400">
            <a:solidFill>
              <a:srgbClr val="0A6E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0600" y="960120"/>
            <a:ext cx="3886200" cy="384048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0600" y="9601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If we recover 25% (16 customers)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14630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6E5F"/>
                </a:solidFill>
              </a:rPr>
              <a:t>₹51,522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4892040" y="21214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6475"/>
                </a:solidFill>
              </a:rPr>
              <a:t>recovered this month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74920" y="2487168"/>
            <a:ext cx="333756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92040" y="2578608"/>
            <a:ext cx="3520440" cy="1508760"/>
          </a:xfrm>
          <a:prstGeom prst="rect">
            <a:avLst/>
          </a:prstGeom>
          <a:solidFill>
            <a:srgbClr val="F0FDF4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83480" y="2633472"/>
            <a:ext cx="3337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6E5F"/>
                </a:solidFill>
              </a:rPr>
              <a:t>₹51,522</a:t>
            </a:r>
            <a:r>
              <a:rPr lang="en-US" sz="1200" dirty="0">
                <a:solidFill>
                  <a:srgbClr val="1A2332"/>
                </a:solidFill>
              </a:rPr>
              <a:t> pays for the entire pipeline infrastructure for a month.
</a:t>
            </a:r>
            <a:r>
              <a:rPr lang="en-US" sz="1300" b="1" dirty="0">
                <a:solidFill>
                  <a:srgbClr val="1A3557"/>
                </a:solidFill>
              </a:rPr>
              <a:t>16 customers </a:t>
            </a:r>
            <a:r>
              <a:rPr lang="en-US" sz="1200" dirty="0">
                <a:solidFill>
                  <a:srgbClr val="1A2332"/>
                </a:solidFill>
              </a:rPr>
              <a:t>out of 62 = 25% recovery rate.
</a:t>
            </a:r>
            <a:r>
              <a:rPr lang="en-US" sz="1100" dirty="0">
                <a:solidFill>
                  <a:srgbClr val="596475"/>
                </a:solidFill>
              </a:rPr>
              <a:t>Even 1 recovered Champion (₹69,207 LTV) exceeds a month of infrastructure cost.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1792" y="442569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7"/>
                </a:solidFill>
              </a:rPr>
              <a:t>So what  </a:t>
            </a:r>
            <a:r>
              <a:rPr lang="en-US" sz="1200" dirty="0">
                <a:solidFill>
                  <a:srgbClr val="1A2332"/>
                </a:solidFill>
              </a:rPr>
              <a:t>The pipeline does not need to save all 62.  At a realistic 25% recovery rate (16 customers), ₹51,522 is recovered, covering full infrastructure cost for the month.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incremental scoring runs daily. Real-time alert fires in under 5 minutes.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05840"/>
            <a:ext cx="1463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05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1463040" cy="411480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12064" y="104241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85216" y="148132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A1A"/>
                </a:solidFill>
              </a:rPr>
              <a:t>Negative review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05A1A"/>
                </a:solidFill>
              </a:rPr>
              <a:t>arrives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2157984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Azure Event Hub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Kafka: reviews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75104" y="1645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6475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76272" y="1005840"/>
            <a:ext cx="1463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176272" y="1005840"/>
            <a:ext cx="14630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176272" y="104241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49424" y="148132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M5 Sentiment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triggers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9424" y="2157984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ai_query() LLaMA 3.3 70B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extract issues[]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39312" y="1645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6475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40480" y="1005840"/>
            <a:ext cx="1463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BF202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0" y="1005840"/>
            <a:ext cx="1463040" cy="411480"/>
          </a:xfrm>
          <a:prstGeom prst="rect">
            <a:avLst/>
          </a:prstGeom>
          <a:solidFill>
            <a:srgbClr val="BF2025"/>
          </a:solidFill>
          <a:ln w="12700">
            <a:solidFill>
              <a:srgbClr val="BF2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0" y="104241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13632" y="148132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2025"/>
                </a:solidFill>
              </a:rPr>
              <a:t>M1 Churn score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BF2025"/>
                </a:solidFill>
              </a:rPr>
              <a:t>checked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13632" y="2157984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Current churn_prob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from gld_churn_predictions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1645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6475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504688" y="1005840"/>
            <a:ext cx="1463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A05C0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504688" y="1005840"/>
            <a:ext cx="1463040" cy="411480"/>
          </a:xfrm>
          <a:prstGeom prst="rect">
            <a:avLst/>
          </a:prstGeom>
          <a:solidFill>
            <a:srgbClr val="A05C07"/>
          </a:solidFill>
          <a:ln w="12700">
            <a:solidFill>
              <a:srgbClr val="A05C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04688" y="104241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148132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5C07"/>
                </a:solidFill>
              </a:rPr>
              <a:t>M2 Segment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05C07"/>
                </a:solidFill>
              </a:rPr>
              <a:t>validated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2157984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Champion?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Urgent priority?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67728" y="1645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6475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68896" y="1005840"/>
            <a:ext cx="1463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A6E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168896" y="1005840"/>
            <a:ext cx="1463040" cy="411480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168896" y="104241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42048" y="1481328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E5F"/>
                </a:solidFill>
              </a:rPr>
              <a:t>Alert fires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6E5F"/>
                </a:solidFill>
              </a:rPr>
              <a:t>&lt; 5 mins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42048" y="2157984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Team notified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</a:rPr>
              <a:t>with context + rec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822960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0A6E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57200" y="2880360"/>
            <a:ext cx="64008" cy="1005840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94360" y="292608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5F"/>
                </a:solidFill>
              </a:rPr>
              <a:t>Why &lt; 5 minutes?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The initial run processed 369,230 historical reviews (72 months) - that took 40 minutes, one time only.  Now the pipeline is incremental: each night only new reviews are scored by ai_query() and appended to gld_review_insights.  A single review in Phase 2 triggers one ai_query() call (seconds) then checks M1 and M2 against already-scored Gold tables.  Total time: under 5 minutes.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4005072"/>
            <a:ext cx="2377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85800" y="4005072"/>
            <a:ext cx="2377440" cy="45720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58952" y="409651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A1A"/>
                </a:solidFill>
              </a:rPr>
              <a:t>&lt; 5 mins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8952" y="446227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Alert fires after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negative review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83280" y="4005072"/>
            <a:ext cx="2377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383280" y="4005072"/>
            <a:ext cx="2377440" cy="45720"/>
          </a:xfrm>
          <a:prstGeom prst="rect">
            <a:avLst/>
          </a:prstGeom>
          <a:solidFill>
            <a:srgbClr val="0A6E5F"/>
          </a:solidFill>
          <a:ln w="12700">
            <a:solidFill>
              <a:srgbClr val="0A6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456432" y="409651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6E5F"/>
                </a:solidFill>
              </a:rPr>
              <a:t>5 models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456432" y="446227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All reused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existing pipeline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80760" y="4005072"/>
            <a:ext cx="2377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080760" y="4005072"/>
            <a:ext cx="23774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153912" y="409651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0 rebuild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153912" y="446227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Trigger config only,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</a:rPr>
              <a:t>not a new project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6475"/>
                </a:solidFill>
              </a:rPr>
              <a:t>Scored as of March 2026  ·  Pipeline runs nightly  ·  Numbers update automatically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Built on Databricks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45720" cy="347472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LakeFlow Declarative Pipelines:  Bronze ingestion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08176"/>
            <a:ext cx="45720" cy="347472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4081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Unity Catalog:  Delta Lake medallion architecture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83664"/>
            <a:ext cx="45720" cy="347472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883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Mosaic AI:  LLaMA 3.3 70B sentiment at scale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45720" cy="347472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MLflow Model Registry:  Production model aliases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5720" cy="347472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AIBI Dashboard:  Live daily scoring output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10128"/>
            <a:ext cx="45720" cy="347472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Genie Space:  Natural language over Gold tables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785616"/>
            <a:ext cx="45720" cy="347472"/>
          </a:xfrm>
          <a:prstGeom prst="rect">
            <a:avLst/>
          </a:prstGeom>
          <a:solidFill>
            <a:srgbClr val="E05A1A"/>
          </a:solidFill>
          <a:ln w="1270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37856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LakeFlow Jobs DAG:  2AM IST nightly automation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274320"/>
            <a:ext cx="0" cy="4480560"/>
          </a:xfrm>
          <a:prstGeom prst="line">
            <a:avLst/>
          </a:prstGeom>
          <a:noFill/>
          <a:ln w="12700">
            <a:solidFill>
              <a:srgbClr val="2A4F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320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Grounded in five published papers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9326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A1A"/>
                </a:solidFill>
              </a:rPr>
              <a:t>[1]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932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Matuszelanski &amp; Kopczewska (2022) JTAER :  M1 AUC benchmark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4081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7BE5"/>
                </a:solidFill>
              </a:rPr>
              <a:t>[2]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1408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Wong, Tong &amp; Haw (2024) JTDE Vol.12 :  M2 K=3 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8836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7BE5"/>
                </a:solidFill>
              </a:rPr>
              <a:t>[3]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1883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Padhy et al. (2024) MDPI Eng. Proc. :  M3 ALS benchmark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3591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5C07"/>
                </a:solidFill>
              </a:rPr>
              <a:t>[4]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2359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Chen et al. (2025) Frontiers Big Data :  M4 RFMQ weights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834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59B6"/>
                </a:solidFill>
              </a:rPr>
              <a:t>[5]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Roumeliotis et al. (2024) Elsevier NLP :  M5 LLM sentiment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3101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E5F"/>
                </a:solidFill>
              </a:rPr>
              <a:t>[6]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3310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Springer ECR (Dec 2024) :  unified framework gap confirmed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61104"/>
            <a:ext cx="8229600" cy="438912"/>
          </a:xfrm>
          <a:prstGeom prst="rect">
            <a:avLst/>
          </a:prstGeom>
          <a:solidFill>
            <a:srgbClr val="1E4976"/>
          </a:solidFill>
          <a:ln w="19050">
            <a:solidFill>
              <a:srgbClr val="E05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4360" y="42062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FFFFFF"/>
                </a:solidFill>
              </a:rPr>
              <a:t>"The gap was never the technology.  The gap was the integration.  BharatMart 360° closes it."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A1A"/>
                </a:solidFill>
              </a:rPr>
              <a:t>62 customers  ·  ₹2,06,090 at risk  ·  ₹51,522 protected at 25% save rate  ·  The pipeline runs tonight.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2570</Words>
  <Application>Microsoft Office PowerPoint</Application>
  <PresentationFormat>On-screen Show (16:9)</PresentationFormat>
  <Paragraphs>484</Paragraphs>
  <Slides>20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BharatMart 360: Retention Intelligence</dc:title>
  <dc:subject>PptxGenJS Presentation</dc:subject>
  <dc:creator>PptxGenJS</dc:creator>
  <cp:lastModifiedBy>Viresh Kumar</cp:lastModifiedBy>
  <cp:revision>3</cp:revision>
  <dcterms:created xsi:type="dcterms:W3CDTF">2026-03-16T16:25:18Z</dcterms:created>
  <dcterms:modified xsi:type="dcterms:W3CDTF">2026-03-16T18:46:23Z</dcterms:modified>
</cp:coreProperties>
</file>